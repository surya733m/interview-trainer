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IBM Plex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A61C9C-8558-4F02-91AF-88FE74080117}">
  <a:tblStyle styleId="{F5A61C9C-8558-4F02-91AF-88FE740801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bf020a2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7bf020a2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7bf020a2c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7bf020a2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bf020a2c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bf020a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bf020a2c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7bf020a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bf020a2c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7bf020a2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11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6600"/>
              <a:t>IBM University Engagement Project Submission</a:t>
            </a:r>
            <a:br>
              <a:rPr b="1" lang="en-US"/>
            </a:br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t/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3"/>
          <p:cNvGraphicFramePr/>
          <p:nvPr/>
        </p:nvGraphicFramePr>
        <p:xfrm>
          <a:off x="1299257" y="26003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{F5A61C9C-8558-4F02-91AF-88FE74080117}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Student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19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Mandagiri Venkata Surya Narayana Naidu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suryamv5936@gmail.com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7337437930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87" name="Google Shape;87;p13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b="1" lang="en-US" sz="2400">
                <a:highlight>
                  <a:srgbClr val="FFFF00"/>
                </a:highlight>
              </a:rPr>
              <a:t>Artificial Intelligence (AI) </a:t>
            </a:r>
            <a:endParaRPr b="1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b="1" lang="en-US" sz="2400">
                <a:highlight>
                  <a:srgbClr val="FFFF00"/>
                </a:highlight>
              </a:rPr>
              <a:t>Interview-Trainer-Agent</a:t>
            </a:r>
            <a:endParaRPr b="1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 title="photo 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5400" y="3573550"/>
            <a:ext cx="1269450" cy="1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76075" y="662025"/>
            <a:ext cx="11453100" cy="49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</a:t>
            </a:r>
            <a:r>
              <a:rPr b="1" lang="en-US" sz="1900"/>
              <a:t>– Interview Trainer Agent</a:t>
            </a:r>
            <a:endParaRPr b="1"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The Challenge</a:t>
            </a:r>
            <a:r>
              <a:rPr b="1" lang="en-US"/>
              <a:t> – </a:t>
            </a:r>
            <a:r>
              <a:rPr lang="en-US" sz="2000"/>
              <a:t>An Interview Trainer Agent, powered by RAG (Retrieval-Augmented Generation),prepares users for job interviews by generating tailored question sets and preparation strategies based on their profile name, experience level, and job role.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It retrieves role-specific interview questions, industry expectations, behavioral scenarios, and HR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guidelines from recruitment portals, professional networks, and company interview databases.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Users can input their resume or job title, and the agent provides targeted questions, model answers,and improvement tips.It supports both technical and soft skill assessment, ensuring a comprehensive interview </a:t>
            </a:r>
            <a:r>
              <a:rPr lang="en-US" sz="2000"/>
              <a:t>prepare </a:t>
            </a:r>
            <a:r>
              <a:rPr lang="en-US" sz="2000"/>
              <a:t>experience.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This AI-driven assistant builds user confidence, sharpens responses, and increases success rates in competitive hiring environments.</a:t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Technology</a:t>
            </a:r>
            <a:r>
              <a:rPr lang="en-US" sz="2000"/>
              <a:t> – Use of IBM Cloud Lite services / IBM Granite is mandatory.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6072" y="200313"/>
            <a:ext cx="721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455475" y="1168650"/>
            <a:ext cx="10972200" cy="5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Proposed System Solution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Develop an AI-powered </a:t>
            </a:r>
            <a:r>
              <a:rPr b="1" lang="en-US" sz="2000">
                <a:solidFill>
                  <a:schemeClr val="dk1"/>
                </a:solidFill>
              </a:rPr>
              <a:t>Interview Trainer Agent</a:t>
            </a:r>
            <a:r>
              <a:rPr lang="en-US" sz="2000">
                <a:solidFill>
                  <a:schemeClr val="dk1"/>
                </a:solidFill>
              </a:rPr>
              <a:t> using </a:t>
            </a:r>
            <a:r>
              <a:rPr b="1" lang="en-US" sz="2000">
                <a:solidFill>
                  <a:schemeClr val="dk1"/>
                </a:solidFill>
              </a:rPr>
              <a:t>IBM Granite</a:t>
            </a:r>
            <a:r>
              <a:rPr lang="en-US" sz="2000">
                <a:solidFill>
                  <a:schemeClr val="dk1"/>
                </a:solidFill>
              </a:rPr>
              <a:t> and </a:t>
            </a:r>
            <a:r>
              <a:rPr b="1" lang="en-US" sz="2000">
                <a:solidFill>
                  <a:schemeClr val="dk1"/>
                </a:solidFill>
              </a:rPr>
              <a:t>Retrieval-Augmented Generation (RAG)</a:t>
            </a:r>
            <a:r>
              <a:rPr lang="en-US" sz="2000">
                <a:solidFill>
                  <a:schemeClr val="dk1"/>
                </a:solidFill>
              </a:rPr>
              <a:t> on </a:t>
            </a:r>
            <a:r>
              <a:rPr b="1" lang="en-US" sz="2000">
                <a:solidFill>
                  <a:schemeClr val="dk1"/>
                </a:solidFill>
              </a:rPr>
              <a:t>IBM Cloud Lite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Analyze the user's </a:t>
            </a:r>
            <a:r>
              <a:rPr b="1" lang="en-US" sz="2000">
                <a:solidFill>
                  <a:schemeClr val="dk1"/>
                </a:solidFill>
              </a:rPr>
              <a:t>resume, skills, experience, and target job role</a:t>
            </a:r>
            <a:r>
              <a:rPr lang="en-US" sz="2000">
                <a:solidFill>
                  <a:schemeClr val="dk1"/>
                </a:solidFill>
              </a:rPr>
              <a:t> to personalize interview preparation.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Retrieve relevant interview questions, HR guidelines, and company-specific content from a </a:t>
            </a:r>
            <a:r>
              <a:rPr b="1" lang="en-US" sz="2000">
                <a:solidFill>
                  <a:schemeClr val="dk1"/>
                </a:solidFill>
              </a:rPr>
              <a:t>vector database</a:t>
            </a:r>
            <a:r>
              <a:rPr lang="en-US" sz="2000">
                <a:solidFill>
                  <a:schemeClr val="dk1"/>
                </a:solidFill>
              </a:rPr>
              <a:t> using semantic search.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Generate </a:t>
            </a:r>
            <a:r>
              <a:rPr b="1" lang="en-US" sz="2000">
                <a:solidFill>
                  <a:schemeClr val="dk1"/>
                </a:solidFill>
              </a:rPr>
              <a:t>technical, HR, behavioral, and coding interview questions</a:t>
            </a:r>
            <a:r>
              <a:rPr lang="en-US" sz="2000">
                <a:solidFill>
                  <a:schemeClr val="dk1"/>
                </a:solidFill>
              </a:rPr>
              <a:t> along with model answers and preparation tips using IBM Granite.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Conduct </a:t>
            </a:r>
            <a:r>
              <a:rPr b="1" lang="en-US" sz="2000">
                <a:solidFill>
                  <a:schemeClr val="dk1"/>
                </a:solidFill>
              </a:rPr>
              <a:t>interactive mock interviews</a:t>
            </a:r>
            <a:r>
              <a:rPr lang="en-US" sz="2000">
                <a:solidFill>
                  <a:schemeClr val="dk1"/>
                </a:solidFill>
              </a:rPr>
              <a:t> and evaluate user responses with detailed feedback and scores.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Provide a </a:t>
            </a:r>
            <a:r>
              <a:rPr b="1" lang="en-US" sz="2000">
                <a:solidFill>
                  <a:schemeClr val="dk1"/>
                </a:solidFill>
              </a:rPr>
              <a:t>comprehensive interview readiness report</a:t>
            </a:r>
            <a:r>
              <a:rPr lang="en-US" sz="2000">
                <a:solidFill>
                  <a:schemeClr val="dk1"/>
                </a:solidFill>
              </a:rPr>
              <a:t> highlighting strengths, weak areas, and personalized learning recommendations.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777240" y="1207008"/>
            <a:ext cx="105156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IBM Cloud Lite</a:t>
            </a:r>
            <a:r>
              <a:rPr lang="en-US" sz="2000">
                <a:solidFill>
                  <a:schemeClr val="dk1"/>
                </a:solidFill>
              </a:rPr>
              <a:t> – Cloud platform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IBM watsonx.ai (IBM Granite)</a:t>
            </a:r>
            <a:r>
              <a:rPr lang="en-US" sz="2000">
                <a:solidFill>
                  <a:schemeClr val="dk1"/>
                </a:solidFill>
              </a:rPr>
              <a:t> – AI model for interview generation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LangChain</a:t>
            </a:r>
            <a:r>
              <a:rPr lang="en-US" sz="2000">
                <a:solidFill>
                  <a:schemeClr val="dk1"/>
                </a:solidFill>
              </a:rPr>
              <a:t> – RAG pipeline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ChromaDB / IBM watsonx.data</a:t>
            </a:r>
            <a:r>
              <a:rPr lang="en-US" sz="2000">
                <a:solidFill>
                  <a:schemeClr val="dk1"/>
                </a:solidFill>
              </a:rPr>
              <a:t> – Vector database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Python &amp; FastAPI</a:t>
            </a:r>
            <a:r>
              <a:rPr lang="en-US" sz="2000">
                <a:solidFill>
                  <a:schemeClr val="dk1"/>
                </a:solidFill>
              </a:rPr>
              <a:t> – Backend development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React.js + Tailwind CSS</a:t>
            </a:r>
            <a:r>
              <a:rPr lang="en-US" sz="2000">
                <a:solidFill>
                  <a:schemeClr val="dk1"/>
                </a:solidFill>
              </a:rPr>
              <a:t> – Frontend development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PyMuPDF</a:t>
            </a:r>
            <a:r>
              <a:rPr lang="en-US" sz="2000">
                <a:solidFill>
                  <a:schemeClr val="dk1"/>
                </a:solidFill>
              </a:rPr>
              <a:t> – Resume parsing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IBM Cloud Object Storage</a:t>
            </a:r>
            <a:r>
              <a:rPr lang="en-US" sz="2000">
                <a:solidFill>
                  <a:schemeClr val="dk1"/>
                </a:solidFill>
              </a:rPr>
              <a:t> – File storage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SQLite / PostgreSQL</a:t>
            </a:r>
            <a:r>
              <a:rPr lang="en-US" sz="2000">
                <a:solidFill>
                  <a:schemeClr val="dk1"/>
                </a:solidFill>
              </a:rPr>
              <a:t> – Database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Git &amp; GitHub</a:t>
            </a:r>
            <a:r>
              <a:rPr lang="en-US" sz="2000">
                <a:solidFill>
                  <a:schemeClr val="dk1"/>
                </a:solidFill>
              </a:rPr>
              <a:t> – Version control</a:t>
            </a:r>
            <a:endParaRPr sz="2000">
              <a:solidFill>
                <a:schemeClr val="dk1"/>
              </a:solidFill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4337"/>
            <a:ext cx="2603243" cy="4498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6695" y="2284337"/>
            <a:ext cx="2603243" cy="4498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1891" y="2284337"/>
            <a:ext cx="2603243" cy="4498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57087" y="2284337"/>
            <a:ext cx="2603243" cy="4498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823187" y="3492980"/>
            <a:ext cx="2100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6" u="none" cap="none" strike="noStrike">
                <a:solidFill>
                  <a:srgbClr val="0F62FE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Analyze Resumes</a:t>
            </a:r>
            <a:endParaRPr sz="1430"/>
          </a:p>
        </p:txBody>
      </p:sp>
      <p:sp>
        <p:nvSpPr>
          <p:cNvPr id="120" name="Google Shape;120;p17"/>
          <p:cNvSpPr txBox="1"/>
          <p:nvPr/>
        </p:nvSpPr>
        <p:spPr>
          <a:xfrm>
            <a:off x="873184" y="4507784"/>
            <a:ext cx="200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26" u="none" cap="none" strike="noStrike">
                <a:solidFill>
                  <a:srgbClr val="525252"/>
                </a:solidFill>
              </a:rPr>
              <a:t>Extract core skills, experience levels, and project highlights using PyMuPDF to establish the candidate's unique professional profile.</a:t>
            </a:r>
            <a:endParaRPr sz="1430"/>
          </a:p>
        </p:txBody>
      </p:sp>
      <p:sp>
        <p:nvSpPr>
          <p:cNvPr id="121" name="Google Shape;121;p17"/>
          <p:cNvSpPr txBox="1"/>
          <p:nvPr/>
        </p:nvSpPr>
        <p:spPr>
          <a:xfrm>
            <a:off x="3718382" y="3492980"/>
            <a:ext cx="2100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6" u="none" cap="none" strike="noStrike">
                <a:solidFill>
                  <a:srgbClr val="0F62FE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Retrieve Knowledge</a:t>
            </a:r>
            <a:endParaRPr sz="1430"/>
          </a:p>
        </p:txBody>
      </p:sp>
      <p:sp>
        <p:nvSpPr>
          <p:cNvPr id="122" name="Google Shape;122;p17"/>
          <p:cNvSpPr txBox="1"/>
          <p:nvPr/>
        </p:nvSpPr>
        <p:spPr>
          <a:xfrm>
            <a:off x="3768379" y="4507784"/>
            <a:ext cx="200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26" u="none" cap="none" strike="noStrike">
                <a:solidFill>
                  <a:srgbClr val="525252"/>
                </a:solidFill>
              </a:rPr>
              <a:t>Perform semantic search across thousands of interview documents using vector embeddings to find the most relevant question frameworks.</a:t>
            </a:r>
            <a:endParaRPr sz="1430"/>
          </a:p>
        </p:txBody>
      </p:sp>
      <p:sp>
        <p:nvSpPr>
          <p:cNvPr id="123" name="Google Shape;123;p17"/>
          <p:cNvSpPr txBox="1"/>
          <p:nvPr/>
        </p:nvSpPr>
        <p:spPr>
          <a:xfrm>
            <a:off x="6613578" y="3492980"/>
            <a:ext cx="2100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6" u="none" cap="none" strike="noStrike">
                <a:solidFill>
                  <a:srgbClr val="0F62F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Conduct Interviews</a:t>
            </a:r>
            <a:endParaRPr sz="1430"/>
          </a:p>
        </p:txBody>
      </p:sp>
      <p:sp>
        <p:nvSpPr>
          <p:cNvPr id="124" name="Google Shape;124;p17"/>
          <p:cNvSpPr txBox="1"/>
          <p:nvPr/>
        </p:nvSpPr>
        <p:spPr>
          <a:xfrm>
            <a:off x="6663576" y="4507784"/>
            <a:ext cx="200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26" u="none" cap="none" strike="noStrike">
                <a:solidFill>
                  <a:srgbClr val="525252"/>
                </a:solidFill>
              </a:rPr>
              <a:t>Engage the user in a dynamic, chat-based mock interview generating highly tailored technical and behavioral questions via IBM Granite.</a:t>
            </a:r>
            <a:endParaRPr sz="1430"/>
          </a:p>
        </p:txBody>
      </p:sp>
      <p:sp>
        <p:nvSpPr>
          <p:cNvPr id="125" name="Google Shape;125;p17"/>
          <p:cNvSpPr txBox="1"/>
          <p:nvPr/>
        </p:nvSpPr>
        <p:spPr>
          <a:xfrm>
            <a:off x="9508774" y="3492980"/>
            <a:ext cx="2100000" cy="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6" u="none" cap="none" strike="noStrike">
                <a:solidFill>
                  <a:srgbClr val="0F62FE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Evaluate Responses</a:t>
            </a:r>
            <a:endParaRPr sz="1430"/>
          </a:p>
        </p:txBody>
      </p:sp>
      <p:sp>
        <p:nvSpPr>
          <p:cNvPr id="126" name="Google Shape;126;p17"/>
          <p:cNvSpPr txBox="1"/>
          <p:nvPr/>
        </p:nvSpPr>
        <p:spPr>
          <a:xfrm>
            <a:off x="9558771" y="4507784"/>
            <a:ext cx="20001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26" u="none" cap="none" strike="noStrike">
                <a:solidFill>
                  <a:srgbClr val="525252"/>
                </a:solidFill>
              </a:rPr>
              <a:t>Assess candidate answers using the STAR method, providing actionable feedback, comprehensive scoring, and a final PDF readiness report.</a:t>
            </a:r>
            <a:endParaRPr sz="1430"/>
          </a:p>
        </p:txBody>
      </p:sp>
      <p:pic>
        <p:nvPicPr>
          <p:cNvPr descr="image.png" id="127" name="Google Shape;12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8754" y="2706222"/>
            <a:ext cx="408733" cy="47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8279" y="2706222"/>
            <a:ext cx="360075" cy="47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05621" y="2706222"/>
            <a:ext cx="515783" cy="47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30012" y="2706222"/>
            <a:ext cx="457392" cy="478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571500"/>
            <a:ext cx="1185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1141"/>
                </a:solidFill>
              </a:rPr>
              <a:t>Core Objectives</a:t>
            </a:r>
            <a:endParaRPr b="1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lang="en-US" sz="2400"/>
              <a:t>W</a:t>
            </a: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orkflow -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50" y="766750"/>
            <a:ext cx="12081951" cy="60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4150"/>
            <a:ext cx="10452676" cy="57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195425" y="145475"/>
            <a:ext cx="8250600" cy="6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Role of Agentic AI in AI Interview Training Agent</a:t>
            </a:r>
            <a:endParaRPr b="1" sz="17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en-US" sz="2100">
                <a:solidFill>
                  <a:schemeClr val="dk1"/>
                </a:solidFill>
              </a:rPr>
              <a:t>Resume Analysis Agent</a:t>
            </a:r>
            <a:endParaRPr b="1"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Analyzes the candidate's resume.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Identifies skills, projects, experience, and ATS score.</a:t>
            </a:r>
            <a:endParaRPr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🎯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Interview Planning Agent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Selects interview type (HR, Technical, Coding).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Adjusts difficulty based on user profile and previous performance.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❓ </a:t>
            </a:r>
            <a:r>
              <a:rPr b="1" lang="en-US" sz="2000">
                <a:solidFill>
                  <a:schemeClr val="dk1"/>
                </a:solidFill>
              </a:rPr>
              <a:t>Question Generation Agent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Generates role-specific interview questions.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Creates follow-up questions based on candidate responses.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📝 </a:t>
            </a:r>
            <a:r>
              <a:rPr b="1" lang="en-US" sz="2000">
                <a:solidFill>
                  <a:schemeClr val="dk1"/>
                </a:solidFill>
              </a:rPr>
              <a:t>Answer Evaluation Agent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Evaluates technical accuracy and completeness.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Assesses communication skills and confidence.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📊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Feedback Agent</a:t>
            </a:r>
            <a:endParaRPr b="1"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Provides detailed strengths and improvement areas.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Suggests the correct approach and learning resources.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838200" y="-2198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Candidate Login Page 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1156875" y="1640020"/>
            <a:ext cx="9444000" cy="408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50" y="1105875"/>
            <a:ext cx="10599550" cy="495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57675" y="-723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Candidate Registration page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470" r="-470" t="0"/>
          <a:stretch/>
        </p:blipFill>
        <p:spPr>
          <a:xfrm>
            <a:off x="209363" y="743525"/>
            <a:ext cx="11612224" cy="518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838200" y="-158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Candidate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Dashboard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75" y="891125"/>
            <a:ext cx="11679325" cy="543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838200" y="-1046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Candidate Resume uploading page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0" y="931400"/>
            <a:ext cx="11433323" cy="51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/>
        </p:nvSpPr>
        <p:spPr>
          <a:xfrm>
            <a:off x="-111485" y="484632"/>
            <a:ext cx="712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1" y="946326"/>
            <a:ext cx="12034800" cy="5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AI-powered adaptive interview system</a:t>
            </a:r>
            <a:r>
              <a:rPr lang="en-US" sz="2000">
                <a:solidFill>
                  <a:schemeClr val="dk1"/>
                </a:solidFill>
              </a:rPr>
              <a:t> that dynamically adjusts question difficulty based on the candidate's performance.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Personalized interview experience</a:t>
            </a:r>
            <a:r>
              <a:rPr lang="en-US" sz="2000">
                <a:solidFill>
                  <a:schemeClr val="dk1"/>
                </a:solidFill>
              </a:rPr>
              <a:t> using resume analysis, skills, experience, and target job role.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Real-time answer evaluation</a:t>
            </a:r>
            <a:r>
              <a:rPr lang="en-US" sz="2000">
                <a:solidFill>
                  <a:schemeClr val="dk1"/>
                </a:solidFill>
              </a:rPr>
              <a:t> with instant feedback on technical accuracy, communication, and confidence.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Integrated ATS resume analysis</a:t>
            </a:r>
            <a:r>
              <a:rPr lang="en-US" sz="2000">
                <a:solidFill>
                  <a:schemeClr val="dk1"/>
                </a:solidFill>
              </a:rPr>
              <a:t> to identify skill gaps and improve job readiness before interviews.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Personalized learning roadmap</a:t>
            </a:r>
            <a:r>
              <a:rPr lang="en-US" sz="2000">
                <a:solidFill>
                  <a:schemeClr val="dk1"/>
                </a:solidFill>
              </a:rPr>
              <a:t> that recommends DSA topics, coding problems, and interview resources based on weaknesses.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Support for multiple interview types</a:t>
            </a:r>
            <a:r>
              <a:rPr lang="en-US" sz="2000">
                <a:solidFill>
                  <a:schemeClr val="dk1"/>
                </a:solidFill>
              </a:rPr>
              <a:t>, including HR, technical, coding, and scenario-based interviews on a single platform.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Detailed performance analytics</a:t>
            </a:r>
            <a:r>
              <a:rPr lang="en-US" sz="2000">
                <a:solidFill>
                  <a:schemeClr val="dk1"/>
                </a:solidFill>
              </a:rPr>
              <a:t> with progress tracking and skill-wise improvement reports.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AI-generated follow-up questions</a:t>
            </a:r>
            <a:r>
              <a:rPr lang="en-US" sz="2000">
                <a:solidFill>
                  <a:schemeClr val="dk1"/>
                </a:solidFill>
              </a:rPr>
              <a:t> to simulate a natural and realistic interview conversation.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Scalable multi-agent architecture</a:t>
            </a:r>
            <a:r>
              <a:rPr lang="en-US" sz="2000">
                <a:solidFill>
                  <a:schemeClr val="dk1"/>
                </a:solidFill>
              </a:rPr>
              <a:t>, where specialized AI agents handle resume analysis, question generation, evaluation, and feedback independently.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Continuous learning support</a:t>
            </a:r>
            <a:r>
              <a:rPr lang="en-US" sz="2000">
                <a:solidFill>
                  <a:schemeClr val="dk1"/>
                </a:solidFill>
              </a:rPr>
              <a:t>, transforming the platform from a mock interview tool into a complete interview preparation assistant.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9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Github URL –https://github.com/Surya733M/interview-trainer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1218686" y="806990"/>
            <a:ext cx="9214500" cy="4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🎤 </a:t>
            </a:r>
            <a:r>
              <a:rPr b="1" lang="en-US" sz="2000">
                <a:solidFill>
                  <a:schemeClr val="dk1"/>
                </a:solidFill>
              </a:rPr>
              <a:t>Voice-Based Mock Interviews</a:t>
            </a:r>
            <a:r>
              <a:rPr lang="en-US" sz="2000">
                <a:solidFill>
                  <a:schemeClr val="dk1"/>
                </a:solidFill>
              </a:rPr>
              <a:t> with AI-powered speech evaluation.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💻 </a:t>
            </a:r>
            <a:r>
              <a:rPr b="1" lang="en-US" sz="2000">
                <a:solidFill>
                  <a:schemeClr val="dk1"/>
                </a:solidFill>
              </a:rPr>
              <a:t>Live Coding Assessment</a:t>
            </a:r>
            <a:r>
              <a:rPr lang="en-US" sz="2000">
                <a:solidFill>
                  <a:schemeClr val="dk1"/>
                </a:solidFill>
              </a:rPr>
              <a:t> with an integrated code editor and compiler.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📄 </a:t>
            </a:r>
            <a:r>
              <a:rPr b="1" lang="en-US" sz="2000">
                <a:solidFill>
                  <a:schemeClr val="dk1"/>
                </a:solidFill>
              </a:rPr>
              <a:t>AI Resume Analyzer</a:t>
            </a:r>
            <a:r>
              <a:rPr lang="en-US" sz="2000">
                <a:solidFill>
                  <a:schemeClr val="dk1"/>
                </a:solidFill>
              </a:rPr>
              <a:t> for ATS optimization and role-specific resume suggestions.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🎯 </a:t>
            </a:r>
            <a:r>
              <a:rPr b="1" lang="en-US" sz="2000">
                <a:solidFill>
                  <a:schemeClr val="dk1"/>
                </a:solidFill>
              </a:rPr>
              <a:t>Company-Specific Interview Preparation</a:t>
            </a:r>
            <a:r>
              <a:rPr lang="en-US" sz="2000">
                <a:solidFill>
                  <a:schemeClr val="dk1"/>
                </a:solidFill>
              </a:rPr>
              <a:t> (Google, Microsoft, Amazon, TCS, Infosys, etc.).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🧠 </a:t>
            </a:r>
            <a:r>
              <a:rPr b="1" lang="en-US" sz="2000">
                <a:solidFill>
                  <a:schemeClr val="dk1"/>
                </a:solidFill>
              </a:rPr>
              <a:t>Personalized Learning Roadmap</a:t>
            </a:r>
            <a:r>
              <a:rPr lang="en-US" sz="2000">
                <a:solidFill>
                  <a:schemeClr val="dk1"/>
                </a:solidFill>
              </a:rPr>
              <a:t> based on performance and skill gaps.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📊 </a:t>
            </a:r>
            <a:r>
              <a:rPr b="1" lang="en-US" sz="2000">
                <a:solidFill>
                  <a:schemeClr val="dk1"/>
                </a:solidFill>
              </a:rPr>
              <a:t>Performance Analytics Dashboard</a:t>
            </a:r>
            <a:r>
              <a:rPr lang="en-US" sz="2000">
                <a:solidFill>
                  <a:schemeClr val="dk1"/>
                </a:solidFill>
              </a:rPr>
              <a:t> to track progress and interview history.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🤖 </a:t>
            </a:r>
            <a:r>
              <a:rPr b="1" lang="en-US" sz="2000">
                <a:solidFill>
                  <a:schemeClr val="dk1"/>
                </a:solidFill>
              </a:rPr>
              <a:t>Multi-Agent AI System</a:t>
            </a:r>
            <a:r>
              <a:rPr lang="en-US" sz="2000">
                <a:solidFill>
                  <a:schemeClr val="dk1"/>
                </a:solidFill>
              </a:rPr>
              <a:t> for resume analysis, question generation, evaluation, and feedback.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🌐 </a:t>
            </a:r>
            <a:r>
              <a:rPr b="1" lang="en-US" sz="2000">
                <a:solidFill>
                  <a:schemeClr val="dk1"/>
                </a:solidFill>
              </a:rPr>
              <a:t>Multilingual Interview Support</a:t>
            </a:r>
            <a:r>
              <a:rPr lang="en-US" sz="2000">
                <a:solidFill>
                  <a:schemeClr val="dk1"/>
                </a:solidFill>
              </a:rPr>
              <a:t> for regional and international candidates.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☁️ </a:t>
            </a:r>
            <a:r>
              <a:rPr b="1" lang="en-US" sz="2000">
                <a:solidFill>
                  <a:schemeClr val="dk1"/>
                </a:solidFill>
              </a:rPr>
              <a:t>Cloud-Based Deployment</a:t>
            </a:r>
            <a:r>
              <a:rPr lang="en-US" sz="2000">
                <a:solidFill>
                  <a:schemeClr val="dk1"/>
                </a:solidFill>
              </a:rPr>
              <a:t> for secure, scalable, and remote access.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🎓 </a:t>
            </a:r>
            <a:r>
              <a:rPr b="1" lang="en-US" sz="2000">
                <a:solidFill>
                  <a:schemeClr val="dk1"/>
                </a:solidFill>
              </a:rPr>
              <a:t>Career Guidance &amp; Job Recommendations</a:t>
            </a:r>
            <a:r>
              <a:rPr lang="en-US" sz="2000">
                <a:solidFill>
                  <a:schemeClr val="dk1"/>
                </a:solidFill>
              </a:rPr>
              <a:t> with certification and learning suggestions.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1" sz="18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2091737" y="4778488"/>
            <a:ext cx="74685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850" y="884500"/>
            <a:ext cx="8159800" cy="601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5900"/>
            <a:ext cx="10828451" cy="56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